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915643" y="1788454"/>
            <a:ext cx="8361229" cy="2098226"/>
          </a:xfrm>
        </p:spPr>
        <p:txBody>
          <a:bodyPr anchor="b">
            <a:noAutofit/>
          </a:bodyPr>
          <a:lstStyle>
            <a:lvl1pPr algn="ctr" rtl="1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2680421" y="3956279"/>
            <a:ext cx="6831673" cy="1086237"/>
          </a:xfrm>
        </p:spPr>
        <p:txBody>
          <a:bodyPr>
            <a:normAutofit/>
          </a:bodyPr>
          <a:lstStyle>
            <a:lvl1pPr marL="0" indent="0"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9831198" y="6453386"/>
            <a:ext cx="1607944" cy="404614"/>
          </a:xfrm>
        </p:spPr>
        <p:txBody>
          <a:bodyPr/>
          <a:lstStyle>
            <a:lvl1pPr algn="r" rtl="1"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2584569" y="6453386"/>
            <a:ext cx="7023377" cy="404614"/>
          </a:xfrm>
        </p:spPr>
        <p:txBody>
          <a:bodyPr/>
          <a:lstStyle>
            <a:lvl1pPr algn="ctr" rtl="1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765025" y="6453386"/>
            <a:ext cx="1596292" cy="404614"/>
          </a:xfrm>
        </p:spPr>
        <p:txBody>
          <a:bodyPr/>
          <a:lstStyle>
            <a:lvl1pPr algn="l" rtl="1"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 flipH="1">
            <a:off x="765025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219200" y="2286000"/>
            <a:ext cx="9601200" cy="3581400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814004" y="1301360"/>
            <a:ext cx="9612971" cy="2852737"/>
          </a:xfrm>
        </p:spPr>
        <p:txBody>
          <a:bodyPr anchor="b">
            <a:normAutofit/>
          </a:bodyPr>
          <a:lstStyle>
            <a:lvl1pPr algn="l" rtl="1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814004" y="4216328"/>
            <a:ext cx="9612971" cy="1143324"/>
          </a:xfrm>
        </p:spPr>
        <p:txBody>
          <a:bodyPr/>
          <a:lstStyle>
            <a:lvl1pPr marL="0" indent="0" algn="l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9830683" y="6453386"/>
            <a:ext cx="1622409" cy="404614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2584311" y="6453386"/>
            <a:ext cx="7023377" cy="404614"/>
          </a:xfrm>
        </p:spPr>
        <p:txBody>
          <a:bodyPr/>
          <a:lstStyle>
            <a:lvl1pPr algn="ctr" rtl="1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765025" y="6453386"/>
            <a:ext cx="1596292" cy="404614"/>
          </a:xfrm>
        </p:spPr>
        <p:txBody>
          <a:bodyPr/>
          <a:lstStyle>
            <a:lvl1pPr algn="l" rtl="1"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 flipH="1">
            <a:off x="765025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algn="r" rtl="1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6372614" y="2285999"/>
            <a:ext cx="4447786" cy="3581401"/>
          </a:xfrm>
        </p:spPr>
        <p:txBody>
          <a:bodyPr/>
          <a:lstStyle>
            <a:lvl1pPr algn="r" rtl="1">
              <a:defRPr baseline="0">
                <a:solidFill>
                  <a:schemeClr val="tx2"/>
                </a:solidFill>
              </a:defRPr>
            </a:lvl1pPr>
            <a:lvl2pPr algn="r" rtl="1">
              <a:defRPr baseline="0">
                <a:solidFill>
                  <a:schemeClr val="tx2"/>
                </a:solidFill>
              </a:defRPr>
            </a:lvl2pPr>
            <a:lvl3pPr algn="r" rtl="1">
              <a:defRPr baseline="0">
                <a:solidFill>
                  <a:schemeClr val="tx2"/>
                </a:solidFill>
              </a:defRPr>
            </a:lvl3pPr>
            <a:lvl4pPr algn="r" rtl="1">
              <a:defRPr baseline="0">
                <a:solidFill>
                  <a:schemeClr val="tx2"/>
                </a:solidFill>
              </a:defRPr>
            </a:lvl4pPr>
            <a:lvl5pPr algn="r" rtl="1"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1218811" y="2285999"/>
            <a:ext cx="4447786" cy="3581401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  <a:lvl2pPr algn="r" rtl="1">
              <a:defRPr>
                <a:solidFill>
                  <a:schemeClr val="tx2"/>
                </a:solidFill>
              </a:defRPr>
            </a:lvl2pPr>
            <a:lvl3pPr algn="r" rtl="1">
              <a:defRPr>
                <a:solidFill>
                  <a:schemeClr val="tx2"/>
                </a:solidFill>
              </a:defRPr>
            </a:lvl3pPr>
            <a:lvl4pPr algn="r" rtl="1">
              <a:defRPr>
                <a:solidFill>
                  <a:schemeClr val="tx2"/>
                </a:solidFill>
              </a:defRPr>
            </a:lvl4pPr>
            <a:lvl5pPr algn="r" rtl="1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6376416" y="2340864"/>
            <a:ext cx="4443984" cy="82391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6376416" y="3305207"/>
            <a:ext cx="4443984" cy="2562193"/>
          </a:xfrm>
        </p:spPr>
        <p:txBody>
          <a:bodyPr/>
          <a:lstStyle>
            <a:lvl1pPr algn="r" rtl="1">
              <a:defRPr baseline="0">
                <a:solidFill>
                  <a:schemeClr val="tx2"/>
                </a:solidFill>
              </a:defRPr>
            </a:lvl1pPr>
            <a:lvl2pPr algn="r" rtl="1">
              <a:defRPr baseline="0">
                <a:solidFill>
                  <a:schemeClr val="tx2"/>
                </a:solidFill>
              </a:defRPr>
            </a:lvl2pPr>
            <a:lvl3pPr algn="r" rtl="1">
              <a:defRPr baseline="0">
                <a:solidFill>
                  <a:schemeClr val="tx2"/>
                </a:solidFill>
              </a:defRPr>
            </a:lvl3pPr>
            <a:lvl4pPr algn="r" rtl="1">
              <a:defRPr baseline="0">
                <a:solidFill>
                  <a:schemeClr val="tx2"/>
                </a:solidFill>
              </a:defRPr>
            </a:lvl4pPr>
            <a:lvl5pPr algn="r" rtl="1"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1223002" y="2340864"/>
            <a:ext cx="4443984" cy="82391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 flipH="1">
            <a:off x="1223002" y="3305207"/>
            <a:ext cx="4443984" cy="2562193"/>
          </a:xfrm>
        </p:spPr>
        <p:txBody>
          <a:bodyPr/>
          <a:lstStyle>
            <a:lvl1pPr algn="r" rtl="1">
              <a:defRPr baseline="0">
                <a:solidFill>
                  <a:schemeClr val="tx2"/>
                </a:solidFill>
              </a:defRPr>
            </a:lvl1pPr>
            <a:lvl2pPr algn="r" rtl="1">
              <a:defRPr baseline="0">
                <a:solidFill>
                  <a:schemeClr val="tx2"/>
                </a:solidFill>
              </a:defRPr>
            </a:lvl2pPr>
            <a:lvl3pPr algn="r" rtl="1">
              <a:defRPr baseline="0">
                <a:solidFill>
                  <a:schemeClr val="tx2"/>
                </a:solidFill>
              </a:defRPr>
            </a:lvl3pPr>
            <a:lvl4pPr algn="r" rtl="1">
              <a:defRPr baseline="0">
                <a:solidFill>
                  <a:schemeClr val="tx2"/>
                </a:solidFill>
              </a:defRPr>
            </a:lvl4pPr>
            <a:lvl5pPr algn="r" rtl="1"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 flipH="1">
            <a:off x="688848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 rt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612380" y="685800"/>
            <a:ext cx="3855720" cy="2157884"/>
          </a:xfrm>
        </p:spPr>
        <p:txBody>
          <a:bodyPr anchor="t">
            <a:noAutofit/>
          </a:bodyPr>
          <a:lstStyle>
            <a:lvl1pPr algn="r" rtl="1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723900" y="685801"/>
            <a:ext cx="5212080" cy="5175250"/>
          </a:xfrm>
        </p:spPr>
        <p:txBody>
          <a:bodyPr/>
          <a:lstStyle>
            <a:lvl1pPr algn="r" rtl="1">
              <a:defRPr sz="2000"/>
            </a:lvl1pPr>
            <a:lvl2pPr algn="r" rtl="1">
              <a:defRPr sz="2000"/>
            </a:lvl2pPr>
            <a:lvl3pPr algn="r" rtl="1">
              <a:defRPr sz="1800"/>
            </a:lvl3pPr>
            <a:lvl4pPr algn="r" rtl="1">
              <a:defRPr sz="1800"/>
            </a:lvl4pPr>
            <a:lvl5pPr algn="r" rtl="1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612380" y="2856344"/>
            <a:ext cx="3855720" cy="3011056"/>
          </a:xfrm>
        </p:spPr>
        <p:txBody>
          <a:bodyPr/>
          <a:lstStyle>
            <a:lvl1pPr marL="0" indent="0" algn="r" rtl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0263528" y="6453386"/>
            <a:ext cx="1204572" cy="404614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7612380" y="6453386"/>
            <a:ext cx="2373675" cy="404614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712568" y="6453386"/>
            <a:ext cx="1596292" cy="404614"/>
          </a:xfrm>
        </p:spPr>
        <p:txBody>
          <a:bodyPr/>
          <a:lstStyle>
            <a:lvl1pPr algn="l" rtl="1"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 flipH="1">
            <a:off x="665988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 rtl="1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 flipH="1">
            <a:off x="688848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 rt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612380" y="685800"/>
            <a:ext cx="3855720" cy="2157884"/>
          </a:xfrm>
        </p:spPr>
        <p:txBody>
          <a:bodyPr anchor="t">
            <a:normAutofit/>
          </a:bodyPr>
          <a:lstStyle>
            <a:lvl1pPr algn="r" rtl="1"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0" y="0"/>
            <a:ext cx="6659880" cy="6857999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612380" y="2855968"/>
            <a:ext cx="3855720" cy="3011432"/>
          </a:xfrm>
        </p:spPr>
        <p:txBody>
          <a:bodyPr/>
          <a:lstStyle>
            <a:lvl1pPr marL="0" indent="0" algn="r" rtl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0263528" y="6453386"/>
            <a:ext cx="1204572" cy="404614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7612380" y="6453386"/>
            <a:ext cx="2373675" cy="404614"/>
          </a:xfrm>
        </p:spPr>
        <p:txBody>
          <a:bodyPr/>
          <a:lstStyle>
            <a:lvl1pPr algn="r" rtl="1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712568" y="6453386"/>
            <a:ext cx="1596292" cy="404614"/>
          </a:xfrm>
        </p:spPr>
        <p:txBody>
          <a:bodyPr/>
          <a:lstStyle>
            <a:lvl1pPr algn="l" rtl="1"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 flipH="1">
            <a:off x="665988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 rtl="1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1219200" y="2295525"/>
            <a:ext cx="9601200" cy="3571875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flipH="1">
            <a:off x="1029673" y="624156"/>
            <a:ext cx="1565766" cy="5243244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2640759" y="624156"/>
            <a:ext cx="8179641" cy="5243244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9596778" y="6453386"/>
            <a:ext cx="1204572" cy="404614"/>
          </a:xfrm>
        </p:spPr>
        <p:txBody>
          <a:bodyPr/>
          <a:lstStyle>
            <a:lvl1pPr algn="r" rtl="1">
              <a:defRPr/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017606" y="6453386"/>
            <a:ext cx="6280830" cy="404614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22972" y="6453386"/>
            <a:ext cx="1596292" cy="404614"/>
          </a:xfrm>
        </p:spPr>
        <p:txBody>
          <a:bodyPr/>
          <a:lstStyle>
            <a:lvl1pPr algn="l" rtl="1">
              <a:defRPr/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12192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2192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9596778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3017606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1122972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 flipH="1">
            <a:off x="1148530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r" defTabSz="914400" rtl="1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8C3B-F21C-2F37-483A-42CF4094E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Inversion of Control</a:t>
            </a: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40BA9-4B9B-837B-B735-4D4A8965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30840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5C1-3BFD-9473-3F9E-97A097078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IoC (Inversion of Control)?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9F7B-883D-B1A5-0B31-A16183EC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Definition:</a:t>
            </a:r>
            <a:br>
              <a:rPr lang="en-US" dirty="0"/>
            </a:br>
            <a:r>
              <a:rPr lang="en-US" dirty="0"/>
              <a:t>IoC is a principle in software design where the </a:t>
            </a:r>
            <a:r>
              <a:rPr lang="en-US" b="1" dirty="0"/>
              <a:t>control of objects and their dependencies</a:t>
            </a:r>
            <a:r>
              <a:rPr lang="en-US" dirty="0"/>
              <a:t> is transferred from the program itself to a </a:t>
            </a:r>
            <a:r>
              <a:rPr lang="en-US" b="1" dirty="0"/>
              <a:t>framework or container</a:t>
            </a:r>
            <a:r>
              <a:rPr lang="en-US" dirty="0"/>
              <a:t>.</a:t>
            </a:r>
          </a:p>
          <a:p>
            <a:r>
              <a:rPr lang="en-US" sz="2400" b="1" dirty="0"/>
              <a:t>In simple words:</a:t>
            </a:r>
            <a:br>
              <a:rPr lang="en-US" sz="2400" b="1" dirty="0"/>
            </a:br>
            <a:r>
              <a:rPr lang="en-US" dirty="0"/>
              <a:t>Instead of your code creating and managing objects, Spring </a:t>
            </a:r>
            <a:r>
              <a:rPr lang="en-US" b="1" dirty="0"/>
              <a:t>manages them for you</a:t>
            </a:r>
            <a:r>
              <a:rPr lang="en-US" dirty="0"/>
              <a:t>.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978346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540D-447F-2E90-BD91-B7AAD4AE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IoC in Spring</a:t>
            </a:r>
            <a:endParaRPr lang="ar-EG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91BD2E-C9CF-6CA8-6DD1-DD563E9C8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19200" y="2784039"/>
            <a:ext cx="943245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configurations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Responsibilities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Instantiate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beans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inject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</a:t>
            </a:r>
            <a:r>
              <a:rPr kumimoji="0" lang="ar-EG" altLang="ar-E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lifecycle</a:t>
            </a: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A1F1-CE27-4E73-FFFE-ED7C0F44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IoC Containers in Spring</a:t>
            </a:r>
            <a:br>
              <a:rPr lang="en-US" b="1" dirty="0"/>
            </a:b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95F9D-00D5-6833-5279-D54D9E9B9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dirty="0" err="1"/>
              <a:t>BeanFactory</a:t>
            </a:r>
            <a:endParaRPr lang="en-US" sz="3100" b="1" dirty="0"/>
          </a:p>
          <a:p>
            <a:r>
              <a:rPr lang="en-US" b="1" dirty="0"/>
              <a:t>Definition:</a:t>
            </a:r>
            <a:r>
              <a:rPr lang="en-US" dirty="0"/>
              <a:t> The </a:t>
            </a:r>
            <a:r>
              <a:rPr lang="en-US" b="1" dirty="0"/>
              <a:t>simplest container</a:t>
            </a:r>
            <a:r>
              <a:rPr lang="en-US" dirty="0"/>
              <a:t> that provides basic DI.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Lazy initialization (creates beans when requested)</a:t>
            </a:r>
          </a:p>
          <a:p>
            <a:pPr lvl="1"/>
            <a:r>
              <a:rPr lang="en-US" dirty="0"/>
              <a:t>Lightweight</a:t>
            </a:r>
          </a:p>
          <a:p>
            <a:pPr lvl="1"/>
            <a:r>
              <a:rPr lang="en-US" dirty="0"/>
              <a:t>Used in memory-constrained applications</a:t>
            </a:r>
          </a:p>
          <a:p>
            <a:r>
              <a:rPr lang="en-US" sz="3400" b="1" dirty="0" err="1"/>
              <a:t>ApplicationContext</a:t>
            </a:r>
            <a:endParaRPr lang="en-US" sz="3400" b="1" dirty="0"/>
          </a:p>
          <a:p>
            <a:r>
              <a:rPr lang="en-US" b="1" dirty="0"/>
              <a:t>Definition:</a:t>
            </a:r>
            <a:r>
              <a:rPr lang="en-US" dirty="0"/>
              <a:t> More </a:t>
            </a:r>
            <a:r>
              <a:rPr lang="en-US" b="1" dirty="0"/>
              <a:t>advanced container</a:t>
            </a:r>
            <a:r>
              <a:rPr lang="en-US" dirty="0"/>
              <a:t>, built on top of </a:t>
            </a:r>
            <a:r>
              <a:rPr lang="en-US" dirty="0" err="1"/>
              <a:t>BeanFactory</a:t>
            </a:r>
            <a:r>
              <a:rPr lang="en-US" dirty="0"/>
              <a:t>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Eager initialization (creates beans at startup)</a:t>
            </a:r>
          </a:p>
          <a:p>
            <a:pPr lvl="1"/>
            <a:r>
              <a:rPr lang="en-US" dirty="0"/>
              <a:t>Supports internationalization, events, AOP, and more</a:t>
            </a:r>
          </a:p>
          <a:p>
            <a:pPr lvl="1"/>
            <a:r>
              <a:rPr lang="en-US" dirty="0"/>
              <a:t>Most commonly used in modern Spring applications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70918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691D-B82F-B98F-9FC1-1B827112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IoC Container Works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FE88-8000-2513-7F44-82F12E43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Read configuration:</a:t>
            </a:r>
            <a:endParaRPr lang="en-US" dirty="0"/>
          </a:p>
          <a:p>
            <a:pPr lvl="1"/>
            <a:r>
              <a:rPr lang="en-US" dirty="0"/>
              <a:t>Can be XML (beans.xml) or Java-based (@Configuration) or annotations (@ComponentScan)</a:t>
            </a:r>
          </a:p>
          <a:p>
            <a:r>
              <a:rPr lang="en-US" b="1" dirty="0"/>
              <a:t>Create beans:</a:t>
            </a:r>
            <a:endParaRPr lang="en-US" dirty="0"/>
          </a:p>
          <a:p>
            <a:pPr lvl="1"/>
            <a:r>
              <a:rPr lang="en-US" dirty="0"/>
              <a:t>Instantiate objects defined in the configuration</a:t>
            </a:r>
          </a:p>
          <a:p>
            <a:r>
              <a:rPr lang="en-US" b="1" dirty="0"/>
              <a:t>Resolve dependencies:</a:t>
            </a:r>
            <a:endParaRPr lang="en-US" dirty="0"/>
          </a:p>
          <a:p>
            <a:pPr lvl="1"/>
            <a:r>
              <a:rPr lang="en-US" dirty="0"/>
              <a:t>Inject dependencies using constructor, setter, or field injection</a:t>
            </a:r>
          </a:p>
          <a:p>
            <a:r>
              <a:rPr lang="en-US" b="1" dirty="0"/>
              <a:t>Manage lifecycle:</a:t>
            </a:r>
            <a:endParaRPr lang="en-US" dirty="0"/>
          </a:p>
          <a:p>
            <a:pPr lvl="1"/>
            <a:r>
              <a:rPr lang="en-US" dirty="0"/>
              <a:t>Call @PostConstruct methods, initialize beans</a:t>
            </a:r>
          </a:p>
          <a:p>
            <a:r>
              <a:rPr lang="en-US" b="1" dirty="0"/>
              <a:t>Provide beans on request:</a:t>
            </a:r>
            <a:endParaRPr lang="en-US" dirty="0"/>
          </a:p>
          <a:p>
            <a:pPr lvl="1"/>
            <a:r>
              <a:rPr lang="en-US" dirty="0"/>
              <a:t>Your application gets fully configured beans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49127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6C17-4EB3-7263-72BB-553F3C53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Bean Scopes in IoC Container</a:t>
            </a:r>
            <a:endParaRPr lang="ar-EG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ED31A1-AD97-7666-EAAF-FD57106BE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219765"/>
              </p:ext>
            </p:extLst>
          </p:nvPr>
        </p:nvGraphicFramePr>
        <p:xfrm>
          <a:off x="1219200" y="3390900"/>
          <a:ext cx="9489440" cy="173736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4026817168"/>
                    </a:ext>
                  </a:extLst>
                </a:gridCol>
                <a:gridCol w="4688840">
                  <a:extLst>
                    <a:ext uri="{9D8B030D-6E8A-4147-A177-3AD203B41FA5}">
                      <a16:colId xmlns:a16="http://schemas.microsoft.com/office/drawing/2014/main" val="2021277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Singleont</a:t>
                      </a:r>
                      <a:r>
                        <a:rPr lang="en-US" sz="2400" b="1" dirty="0"/>
                        <a:t> (default)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One shared instance per Spring container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Prototype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51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instance every time requested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63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517278"/>
      </p:ext>
    </p:extLst>
  </p:cSld>
  <p:clrMapOvr>
    <a:masterClrMapping/>
  </p:clrMapOvr>
</p:sld>
</file>

<file path=ppt/theme/theme1.xml><?xml version="1.0" encoding="utf-8"?>
<a:theme xmlns:a="http://schemas.openxmlformats.org/drawingml/2006/main" name="tgt.TF1000110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10001105" id="{24C52A27-F0F3-4D6E-BBF3-13B764D946AB}" vid="{71D75FE4-7F68-4DD9-83D0-418904D12C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{200FD5A4-8B64-40B7-AE5C-1CB0AAA29A88}TFc3084226-2d0c-440f-9f46-6b48c7a7f6701deb793d_win32-81ae5d4f3c52</Template>
  <TotalTime>7</TotalTime>
  <Words>272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Franklin Gothic Book</vt:lpstr>
      <vt:lpstr>tgt.TF10001105</vt:lpstr>
      <vt:lpstr>Inversion of Control</vt:lpstr>
      <vt:lpstr>What is IoC (Inversion of Control)?</vt:lpstr>
      <vt:lpstr>IoC in Spring</vt:lpstr>
      <vt:lpstr>Types of IoC Containers in Spring </vt:lpstr>
      <vt:lpstr>How IoC Container Works</vt:lpstr>
      <vt:lpstr>Bean Scopes in IoC Container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Rafaat</dc:creator>
  <cp:lastModifiedBy>Ahmed Rafaat</cp:lastModifiedBy>
  <cp:revision>1</cp:revision>
  <dcterms:created xsi:type="dcterms:W3CDTF">2026-02-10T17:05:37Z</dcterms:created>
  <dcterms:modified xsi:type="dcterms:W3CDTF">2026-02-10T17:12:45Z</dcterms:modified>
</cp:coreProperties>
</file>